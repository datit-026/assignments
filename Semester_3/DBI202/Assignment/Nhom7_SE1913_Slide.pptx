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6858000" cy="9144000"/>
  <p:embeddedFontLst>
    <p:embeddedFont>
      <p:font typeface="Manrope Bold" panose="020B0604020202020204" charset="0"/>
      <p:regular r:id="rId46"/>
    </p:embeddedFont>
    <p:embeddedFont>
      <p:font typeface="Montserrat" panose="00000500000000000000" pitchFamily="2" charset="0"/>
      <p:regular r:id="rId47"/>
      <p:bold r:id="rId48"/>
    </p:embeddedFont>
    <p:embeddedFont>
      <p:font typeface="Montserrat Bold" panose="00000800000000000000" charset="0"/>
      <p:regular r:id="rId49"/>
    </p:embeddedFont>
    <p:embeddedFont>
      <p:font typeface="Montserrat Medium" panose="00000600000000000000" pitchFamily="2" charset="0"/>
      <p:regular r:id="rId50"/>
    </p:embeddedFont>
    <p:embeddedFont>
      <p:font typeface="Montserrat Medium Italics" panose="020B0604020202020204" charset="0"/>
      <p:regular r:id="rId51"/>
    </p:embeddedFont>
    <p:embeddedFont>
      <p:font typeface="Montserrat Ultra-Bold" panose="020B0604020202020204" charset="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A7BD5-6E30-4BFC-BAD6-15C66DAE608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295F4-1592-419F-8F33-93B98E89B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295F4-1592-419F-8F33-93B98E89B5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34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295F4-1592-419F-8F33-93B98E89B55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38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4326" y="0"/>
            <a:ext cx="278554" cy="7277371"/>
            <a:chOff x="0" y="0"/>
            <a:chExt cx="73364" cy="19166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364" cy="1916674"/>
            </a:xfrm>
            <a:custGeom>
              <a:avLst/>
              <a:gdLst/>
              <a:ahLst/>
              <a:cxnLst/>
              <a:rect l="l" t="t" r="r" b="b"/>
              <a:pathLst>
                <a:path w="73364" h="1916674">
                  <a:moveTo>
                    <a:pt x="0" y="0"/>
                  </a:moveTo>
                  <a:lnTo>
                    <a:pt x="73364" y="0"/>
                  </a:lnTo>
                  <a:lnTo>
                    <a:pt x="73364" y="1916674"/>
                  </a:lnTo>
                  <a:lnTo>
                    <a:pt x="0" y="1916674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3364" cy="1954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29775" y="2388719"/>
            <a:ext cx="15021956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BANKING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29775" y="3815564"/>
            <a:ext cx="14053443" cy="1024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SYSTEM</a:t>
            </a:r>
          </a:p>
        </p:txBody>
      </p:sp>
      <p:sp>
        <p:nvSpPr>
          <p:cNvPr id="10" name="TextBox 10"/>
          <p:cNvSpPr txBox="1"/>
          <p:nvPr/>
        </p:nvSpPr>
        <p:spPr>
          <a:xfrm rot="-5400000">
            <a:off x="-1647260" y="5520998"/>
            <a:ext cx="587410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DBI202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23307" y="5224923"/>
            <a:ext cx="11634893" cy="4000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399" b="1" spc="213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LECTURER: </a:t>
            </a:r>
            <a:r>
              <a:rPr lang="en-US" sz="2399" spc="21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NGUYỄN THỊ THU THẢO</a:t>
            </a:r>
          </a:p>
          <a:p>
            <a:pPr algn="l">
              <a:lnSpc>
                <a:spcPts val="4007"/>
              </a:lnSpc>
            </a:pPr>
            <a:r>
              <a:rPr lang="en-US" sz="2399" b="1" spc="213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SUBJECT:</a:t>
            </a:r>
            <a:r>
              <a:rPr lang="en-US" sz="2399" spc="21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DBI202</a:t>
            </a:r>
          </a:p>
          <a:p>
            <a:pPr algn="l">
              <a:lnSpc>
                <a:spcPts val="4007"/>
              </a:lnSpc>
            </a:pPr>
            <a:r>
              <a:rPr lang="en-US" sz="2399" b="1" spc="213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GROUP: </a:t>
            </a:r>
            <a:r>
              <a:rPr lang="en-US" sz="2399" spc="21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</a:p>
          <a:p>
            <a:pPr algn="l">
              <a:lnSpc>
                <a:spcPts val="4007"/>
              </a:lnSpc>
            </a:pPr>
            <a:r>
              <a:rPr lang="en-US" sz="2399" b="1" spc="213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MEMBER:</a:t>
            </a:r>
            <a:r>
              <a:rPr lang="en-US" sz="2399" spc="21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4007"/>
              </a:lnSpc>
            </a:pPr>
            <a:r>
              <a:rPr lang="en-US" sz="2399" spc="21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HÀ NGUYỄN TIẾN ĐẠT -  SE203334</a:t>
            </a:r>
          </a:p>
          <a:p>
            <a:pPr algn="l">
              <a:lnSpc>
                <a:spcPts val="4007"/>
              </a:lnSpc>
            </a:pPr>
            <a:r>
              <a:rPr lang="en-US" sz="2399" spc="21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TRẦN HỮU VIỆT           -  SE190596</a:t>
            </a:r>
          </a:p>
          <a:p>
            <a:pPr algn="l">
              <a:lnSpc>
                <a:spcPts val="4007"/>
              </a:lnSpc>
            </a:pPr>
            <a:r>
              <a:rPr lang="en-US" sz="2399" spc="21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MAI THÀNH ĐƯỢC       -  SE193659</a:t>
            </a:r>
          </a:p>
          <a:p>
            <a:pPr algn="l">
              <a:lnSpc>
                <a:spcPts val="4007"/>
              </a:lnSpc>
            </a:pPr>
            <a:r>
              <a:rPr lang="en-US" sz="2399" spc="21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LÊ NGUYÊN NGỌC       -  SS190849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55804" y="9258300"/>
            <a:ext cx="7376392" cy="145346"/>
            <a:chOff x="0" y="0"/>
            <a:chExt cx="1942753" cy="38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2753" cy="38280"/>
            </a:xfrm>
            <a:custGeom>
              <a:avLst/>
              <a:gdLst/>
              <a:ahLst/>
              <a:cxnLst/>
              <a:rect l="l" t="t" r="r" b="b"/>
              <a:pathLst>
                <a:path w="1942753" h="38280">
                  <a:moveTo>
                    <a:pt x="0" y="0"/>
                  </a:moveTo>
                  <a:lnTo>
                    <a:pt x="1942753" y="0"/>
                  </a:lnTo>
                  <a:lnTo>
                    <a:pt x="1942753" y="38280"/>
                  </a:lnTo>
                  <a:lnTo>
                    <a:pt x="0" y="38280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42753" cy="76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6464" y="2635954"/>
            <a:ext cx="6204052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I. 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54010" y="670244"/>
            <a:ext cx="5349698" cy="888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b="1">
                <a:solidFill>
                  <a:srgbClr val="F9B3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6464" y="4931283"/>
            <a:ext cx="747947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II. HIGH-LEVEL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55071" y="7226612"/>
            <a:ext cx="6356782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VI. 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6464" y="7226612"/>
            <a:ext cx="6204052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III. LOGICAL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5071" y="2635954"/>
            <a:ext cx="747947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IV. NORMALIZATION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55071" y="4920593"/>
            <a:ext cx="747947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V. PHYSICAL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9012429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22905" y="4657541"/>
            <a:ext cx="11842190" cy="1210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8"/>
              </a:lnSpc>
            </a:pPr>
            <a:r>
              <a:rPr lang="en-US" sz="9593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I. 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183219" y="498910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2183655"/>
            <a:ext cx="12324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I. 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979564"/>
            <a:ext cx="16423838" cy="1904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03"/>
              </a:lnSpc>
            </a:pPr>
            <a:r>
              <a:rPr lang="en-US" sz="33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banking database system ensures secure, reliable data management and supports core banking operations, providing a solid foundation for future development.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605496" y="7464430"/>
            <a:ext cx="2539355" cy="2584585"/>
          </a:xfrm>
          <a:custGeom>
            <a:avLst/>
            <a:gdLst/>
            <a:ahLst/>
            <a:cxnLst/>
            <a:rect l="l" t="t" r="r" b="b"/>
            <a:pathLst>
              <a:path w="2539355" h="2584585">
                <a:moveTo>
                  <a:pt x="0" y="0"/>
                </a:moveTo>
                <a:lnTo>
                  <a:pt x="2539354" y="0"/>
                </a:lnTo>
                <a:lnTo>
                  <a:pt x="2539354" y="2584585"/>
                </a:lnTo>
                <a:lnTo>
                  <a:pt x="0" y="258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2183655"/>
            <a:ext cx="12324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Project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I. 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3095" y="3167403"/>
            <a:ext cx="15301280" cy="356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8086" lvl="1" indent="-509043" algn="just">
              <a:lnSpc>
                <a:spcPts val="9714"/>
              </a:lnSpc>
              <a:buFont typeface="Arial"/>
              <a:buChar char="•"/>
            </a:pPr>
            <a:r>
              <a:rPr lang="en-US" sz="47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Manage customers, accounts, and transactions.</a:t>
            </a:r>
          </a:p>
          <a:p>
            <a:pPr marL="1018086" lvl="1" indent="-509043" algn="just">
              <a:lnSpc>
                <a:spcPts val="9714"/>
              </a:lnSpc>
              <a:buFont typeface="Arial"/>
              <a:buChar char="•"/>
            </a:pPr>
            <a:r>
              <a:rPr lang="en-US" sz="47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Manage loans and generate reports.</a:t>
            </a:r>
          </a:p>
          <a:p>
            <a:pPr marL="1018086" lvl="1" indent="-509043" algn="just">
              <a:lnSpc>
                <a:spcPts val="9714"/>
              </a:lnSpc>
              <a:buFont typeface="Arial"/>
              <a:buChar char="•"/>
            </a:pPr>
            <a:r>
              <a:rPr lang="en-US" sz="47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Ensure secure login, MFA, and audit logs.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93090" y="4669386"/>
            <a:ext cx="1966210" cy="1966210"/>
          </a:xfrm>
          <a:custGeom>
            <a:avLst/>
            <a:gdLst/>
            <a:ahLst/>
            <a:cxnLst/>
            <a:rect l="l" t="t" r="r" b="b"/>
            <a:pathLst>
              <a:path w="1966210" h="1966210">
                <a:moveTo>
                  <a:pt x="0" y="0"/>
                </a:moveTo>
                <a:lnTo>
                  <a:pt x="1966210" y="0"/>
                </a:lnTo>
                <a:lnTo>
                  <a:pt x="1966210" y="1966210"/>
                </a:lnTo>
                <a:lnTo>
                  <a:pt x="0" y="1966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176537" y="7978342"/>
            <a:ext cx="1672117" cy="1467283"/>
          </a:xfrm>
          <a:custGeom>
            <a:avLst/>
            <a:gdLst/>
            <a:ahLst/>
            <a:cxnLst/>
            <a:rect l="l" t="t" r="r" b="b"/>
            <a:pathLst>
              <a:path w="1672117" h="1467283">
                <a:moveTo>
                  <a:pt x="0" y="0"/>
                </a:moveTo>
                <a:lnTo>
                  <a:pt x="1672118" y="0"/>
                </a:lnTo>
                <a:lnTo>
                  <a:pt x="1672118" y="1467283"/>
                </a:lnTo>
                <a:lnTo>
                  <a:pt x="0" y="146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2183655"/>
            <a:ext cx="9947974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3. Overview of data models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I. 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115" y="3255789"/>
            <a:ext cx="12992681" cy="4744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1" lvl="1" indent="-507360" algn="just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We analyzed four primary data models:</a:t>
            </a:r>
          </a:p>
          <a:p>
            <a:pPr marL="1014721" lvl="1" indent="-507360" algn="just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Structured (RDBMS)</a:t>
            </a:r>
          </a:p>
          <a:p>
            <a:pPr marL="1014721" lvl="1" indent="-507360" algn="just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Semi-Structured (NoSQL/JSON)</a:t>
            </a:r>
          </a:p>
          <a:p>
            <a:pPr marL="1014721" lvl="1" indent="-507360" algn="just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Unstructured (Blob Storage)</a:t>
            </a:r>
          </a:p>
          <a:p>
            <a:pPr marL="1014721" lvl="1" indent="-507360" algn="just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Graph (Graph DB)</a:t>
            </a:r>
          </a:p>
          <a:p>
            <a:pPr algn="just">
              <a:lnSpc>
                <a:spcPts val="4899"/>
              </a:lnSpc>
            </a:pPr>
            <a:endParaRPr lang="en-US" sz="4699">
              <a:solidFill>
                <a:srgbClr val="2D26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92857"/>
            <a:ext cx="8743560" cy="102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4. Proposed Data Model /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I.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97275"/>
            <a:ext cx="16230600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We analyzed four primary data models: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2D26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Structured (RDBMS):</a:t>
            </a:r>
            <a:r>
              <a:rPr lang="en-US" sz="3000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 Ideal for core financial data requiring high consistency and ACID compliance.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2D26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Semi-Structured (NoSQL/JSON):</a:t>
            </a:r>
            <a:r>
              <a:rPr lang="en-US" sz="3000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 Best for flexible data like varied customer profiles.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2D26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Unstructured (Blob Storage):</a:t>
            </a:r>
            <a:r>
              <a:rPr lang="en-US" sz="3000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 Suited for storing large files like scanned KYC documents.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2D26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 (Graph DB)</a:t>
            </a:r>
            <a:r>
              <a:rPr lang="en-US" sz="3000">
                <a:solidFill>
                  <a:srgbClr val="2D262A"/>
                </a:solidFill>
                <a:latin typeface="Montserrat"/>
                <a:ea typeface="Montserrat"/>
                <a:cs typeface="Montserrat"/>
                <a:sym typeface="Montserrat"/>
              </a:rPr>
              <a:t>: Excellent for analyzing complex relationships, such as in fraud detection.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2D26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2D26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  <p:sp>
        <p:nvSpPr>
          <p:cNvPr id="9" name="Freeform 9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9012429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50423" y="4502414"/>
            <a:ext cx="15106789" cy="141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5"/>
              </a:lnSpc>
            </a:pPr>
            <a:r>
              <a:rPr lang="en-US" sz="9293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II. HIGH-LEVEL DESIGN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765997"/>
            <a:ext cx="14615201" cy="3393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1381" lvl="1" indent="-375690" algn="l">
              <a:lnSpc>
                <a:spcPts val="5429"/>
              </a:lnSpc>
              <a:buFont typeface="Arial"/>
              <a:buChar char="•"/>
            </a:pPr>
            <a:r>
              <a:rPr lang="en-US" sz="34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system manages branches, customers, accounts, loans, employees, and transactions.</a:t>
            </a:r>
          </a:p>
          <a:p>
            <a:pPr marL="751381" lvl="1" indent="-375690" algn="l">
              <a:lnSpc>
                <a:spcPts val="5429"/>
              </a:lnSpc>
              <a:buFont typeface="Arial"/>
              <a:buChar char="•"/>
            </a:pPr>
            <a:r>
              <a:rPr lang="en-US" sz="34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Branches serve customers with multiple accounts and loans.</a:t>
            </a:r>
          </a:p>
          <a:p>
            <a:pPr marL="751381" lvl="1" indent="-375690" algn="l">
              <a:lnSpc>
                <a:spcPts val="5429"/>
              </a:lnSpc>
              <a:buFont typeface="Arial"/>
              <a:buChar char="•"/>
            </a:pPr>
            <a:r>
              <a:rPr lang="en-US" sz="34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Employees handle branch tasks, while transactions link to accounts for accurate tracking.</a:t>
            </a:r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428793" y="7668545"/>
            <a:ext cx="1592708" cy="1777080"/>
          </a:xfrm>
          <a:custGeom>
            <a:avLst/>
            <a:gdLst/>
            <a:ahLst/>
            <a:cxnLst/>
            <a:rect l="l" t="t" r="r" b="b"/>
            <a:pathLst>
              <a:path w="1592708" h="1777080">
                <a:moveTo>
                  <a:pt x="0" y="0"/>
                </a:moveTo>
                <a:lnTo>
                  <a:pt x="1592708" y="0"/>
                </a:lnTo>
                <a:lnTo>
                  <a:pt x="1592708" y="1777080"/>
                </a:lnTo>
                <a:lnTo>
                  <a:pt x="0" y="1777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II. HIGH-LEVEL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43782"/>
            <a:ext cx="5149142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1. Scenario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II. HIGH-LEVEL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061119"/>
            <a:ext cx="15666979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2. Identify entities, relationships and their properties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9645" y="3028478"/>
            <a:ext cx="15925089" cy="6471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3"/>
              </a:lnSpc>
              <a:spcBef>
                <a:spcPct val="0"/>
              </a:spcBef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core entities identified for the RDBMS portion of the system are:</a:t>
            </a:r>
          </a:p>
          <a:p>
            <a:pPr algn="l">
              <a:lnSpc>
                <a:spcPts val="5143"/>
              </a:lnSpc>
              <a:spcBef>
                <a:spcPct val="0"/>
              </a:spcBef>
            </a:pPr>
            <a:endParaRPr lang="en-US" sz="367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793127" lvl="1" indent="-396564" algn="l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Employee</a:t>
            </a:r>
          </a:p>
          <a:p>
            <a:pPr marL="793127" lvl="1" indent="-396564" algn="l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</a:t>
            </a:r>
          </a:p>
          <a:p>
            <a:pPr marL="793127" lvl="1" indent="-396564" algn="l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</a:t>
            </a:r>
          </a:p>
          <a:p>
            <a:pPr marL="793127" lvl="1" indent="-396564" algn="l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</a:t>
            </a:r>
          </a:p>
          <a:p>
            <a:pPr marL="793127" lvl="1" indent="-396564" algn="l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Loan</a:t>
            </a:r>
          </a:p>
          <a:p>
            <a:pPr marL="793127" lvl="1" indent="-396564" algn="l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Transactions</a:t>
            </a:r>
          </a:p>
          <a:p>
            <a:pPr marL="793127" lvl="1" indent="-396564" algn="l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Branch_Management</a:t>
            </a:r>
          </a:p>
          <a:p>
            <a:pPr marL="793127" lvl="1" indent="-396564" algn="l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Customer_Loan</a:t>
            </a:r>
          </a:p>
        </p:txBody>
      </p:sp>
      <p:sp>
        <p:nvSpPr>
          <p:cNvPr id="9" name="Freeform 9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6664"/>
            <a:ext cx="18084662" cy="9211636"/>
          </a:xfrm>
          <a:custGeom>
            <a:avLst/>
            <a:gdLst/>
            <a:ahLst/>
            <a:cxnLst/>
            <a:rect l="l" t="t" r="r" b="b"/>
            <a:pathLst>
              <a:path w="18084662" h="9211636">
                <a:moveTo>
                  <a:pt x="0" y="0"/>
                </a:moveTo>
                <a:lnTo>
                  <a:pt x="18084662" y="0"/>
                </a:lnTo>
                <a:lnTo>
                  <a:pt x="18084662" y="9211636"/>
                </a:lnTo>
                <a:lnTo>
                  <a:pt x="0" y="921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464" t="-8934" r="-20399" b="-87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39960" y="9210675"/>
            <a:ext cx="10338160" cy="89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conceptual model defines core banking entities, their attributes, and relationship cardinalities in the ERD.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II. HIGH-LEVEL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043782"/>
            <a:ext cx="15666979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3. Create the Conceptual Model (ERD)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6024" y="2744441"/>
            <a:ext cx="16123275" cy="7286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6"/>
              </a:lnSpc>
              <a:spcBef>
                <a:spcPct val="0"/>
              </a:spcBef>
            </a:pPr>
            <a:r>
              <a:rPr lang="en-US" sz="371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Entities: EMPLOYEE, BRANCH, CUSTOMER, ACCOUNT, LOAN, TRANSACTIONS</a:t>
            </a:r>
          </a:p>
          <a:p>
            <a:pPr algn="l">
              <a:lnSpc>
                <a:spcPts val="5196"/>
              </a:lnSpc>
              <a:spcBef>
                <a:spcPct val="0"/>
              </a:spcBef>
            </a:pPr>
            <a:r>
              <a:rPr lang="en-US" sz="371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Relationships:</a:t>
            </a:r>
          </a:p>
          <a:p>
            <a:pPr marL="801386" lvl="1" indent="-400693" algn="l">
              <a:lnSpc>
                <a:spcPts val="5196"/>
              </a:lnSpc>
              <a:buFont typeface="Arial"/>
              <a:buChar char="•"/>
            </a:pPr>
            <a:r>
              <a:rPr lang="en-US" sz="37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EMPLOYEE–BRANCH</a:t>
            </a:r>
            <a:r>
              <a:rPr lang="en-US" sz="371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works (N:1), manages (1:1) → BRANCH_MANAGEMENT</a:t>
            </a:r>
          </a:p>
          <a:p>
            <a:pPr marL="801386" lvl="1" indent="-400693" algn="l">
              <a:lnSpc>
                <a:spcPts val="5196"/>
              </a:lnSpc>
              <a:buFont typeface="Arial"/>
              <a:buChar char="•"/>
            </a:pPr>
            <a:r>
              <a:rPr lang="en-US" sz="37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BRANCH–ACCOUNT / LOAN</a:t>
            </a:r>
            <a:r>
              <a:rPr lang="en-US" sz="371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(1:N)</a:t>
            </a:r>
          </a:p>
          <a:p>
            <a:pPr marL="801386" lvl="1" indent="-400693" algn="l">
              <a:lnSpc>
                <a:spcPts val="5196"/>
              </a:lnSpc>
              <a:buFont typeface="Arial"/>
              <a:buChar char="•"/>
            </a:pPr>
            <a:r>
              <a:rPr lang="en-US" sz="37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CUSTOMER–ACCOUNT</a:t>
            </a:r>
            <a:r>
              <a:rPr lang="en-US" sz="371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(1:N)</a:t>
            </a:r>
          </a:p>
          <a:p>
            <a:pPr marL="801386" lvl="1" indent="-400693" algn="l">
              <a:lnSpc>
                <a:spcPts val="5196"/>
              </a:lnSpc>
              <a:buFont typeface="Arial"/>
              <a:buChar char="•"/>
            </a:pPr>
            <a:r>
              <a:rPr lang="en-US" sz="37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CUSTOMER–LOAN</a:t>
            </a:r>
            <a:r>
              <a:rPr lang="en-US" sz="371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(N:M) → CUSTOMER_LOAN</a:t>
            </a:r>
          </a:p>
          <a:p>
            <a:pPr marL="801386" lvl="1" indent="-400693" algn="l">
              <a:lnSpc>
                <a:spcPts val="5196"/>
              </a:lnSpc>
              <a:buFont typeface="Arial"/>
              <a:buChar char="•"/>
            </a:pPr>
            <a:r>
              <a:rPr lang="en-US" sz="37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ACCOUNT–TRANSACTIONS</a:t>
            </a:r>
            <a:r>
              <a:rPr lang="en-US" sz="371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(1:N) via </a:t>
            </a:r>
            <a:r>
              <a:rPr lang="en-US" sz="3711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fromAccountID</a:t>
            </a:r>
            <a:r>
              <a:rPr lang="en-US" sz="371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en-US" sz="3711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toAccountID</a:t>
            </a:r>
            <a:endParaRPr lang="en-US" sz="3711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5196"/>
              </a:lnSpc>
              <a:spcBef>
                <a:spcPct val="0"/>
              </a:spcBef>
            </a:pPr>
            <a:endParaRPr lang="en-US" sz="3711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II. HIGH-LEVEL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077434"/>
            <a:ext cx="15666979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4. Develop the Logical Model (RD schems)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920968"/>
            <a:ext cx="15706976" cy="7284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40"/>
              </a:lnSpc>
            </a:pPr>
            <a:endParaRPr dirty="0"/>
          </a:p>
          <a:p>
            <a:pPr>
              <a:lnSpc>
                <a:spcPts val="4840"/>
              </a:lnSpc>
            </a:pPr>
            <a:r>
              <a:rPr lang="en-US" sz="314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Entities:</a:t>
            </a:r>
            <a:r>
              <a:rPr lang="en-US" sz="314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BRANCH, CUSTOMER, EMPLOYEE, ACCOUNT, LOAN, TRANSACTIONS.</a:t>
            </a:r>
          </a:p>
          <a:p>
            <a:pPr algn="just">
              <a:lnSpc>
                <a:spcPts val="4840"/>
              </a:lnSpc>
            </a:pPr>
            <a:r>
              <a:rPr lang="en-US" sz="314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Relationships:</a:t>
            </a:r>
          </a:p>
          <a:p>
            <a:pPr marL="678571" lvl="1" indent="-339286" algn="just">
              <a:lnSpc>
                <a:spcPts val="4840"/>
              </a:lnSpc>
              <a:buFont typeface="Arial"/>
              <a:buChar char="•"/>
            </a:pPr>
            <a:r>
              <a:rPr lang="en-US" sz="314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EMPLOYEE, ACCOUNT, and LOAN link to a BRANCH via </a:t>
            </a:r>
            <a:r>
              <a:rPr lang="en-US" sz="3142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BranchID</a:t>
            </a:r>
            <a:r>
              <a:rPr lang="en-US" sz="314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(FK).</a:t>
            </a:r>
          </a:p>
          <a:p>
            <a:pPr marL="678571" lvl="1" indent="-339286" algn="just">
              <a:lnSpc>
                <a:spcPts val="4840"/>
              </a:lnSpc>
              <a:buFont typeface="Arial"/>
              <a:buChar char="•"/>
            </a:pPr>
            <a:r>
              <a:rPr lang="en-US" sz="314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 belongs to a CUSTOMER via </a:t>
            </a:r>
            <a:r>
              <a:rPr lang="en-US" sz="3142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CustomerID</a:t>
            </a:r>
            <a:r>
              <a:rPr lang="en-US" sz="314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(FK).</a:t>
            </a:r>
          </a:p>
          <a:p>
            <a:pPr marL="678571" lvl="1" indent="-339286" algn="just">
              <a:lnSpc>
                <a:spcPts val="4840"/>
              </a:lnSpc>
              <a:buFont typeface="Arial"/>
              <a:buChar char="•"/>
            </a:pPr>
            <a:r>
              <a:rPr lang="en-US" sz="314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TRANSACTIONS involve two ACCOUNTs </a:t>
            </a:r>
          </a:p>
          <a:p>
            <a:pPr algn="just">
              <a:lnSpc>
                <a:spcPts val="4840"/>
              </a:lnSpc>
            </a:pPr>
            <a:r>
              <a:rPr lang="en-US" sz="314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Linking Tables:</a:t>
            </a:r>
          </a:p>
          <a:p>
            <a:pPr marL="678571" lvl="1" indent="-339286" algn="just">
              <a:lnSpc>
                <a:spcPts val="4840"/>
              </a:lnSpc>
              <a:buFont typeface="Arial"/>
              <a:buChar char="•"/>
            </a:pPr>
            <a:r>
              <a:rPr lang="en-US" sz="314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BRANCH_MANAGEMENT connects a BRANCH to its EMPLOYEE Manager </a:t>
            </a:r>
          </a:p>
          <a:p>
            <a:pPr marL="678571" lvl="1" indent="-339286" algn="just">
              <a:lnSpc>
                <a:spcPts val="4840"/>
              </a:lnSpc>
              <a:buFont typeface="Arial"/>
              <a:buChar char="•"/>
            </a:pPr>
            <a:r>
              <a:rPr lang="en-US" sz="314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CUSTOMER_LOAN links CUSTOMER to their LOANs.</a:t>
            </a:r>
          </a:p>
          <a:p>
            <a:pPr algn="just">
              <a:lnSpc>
                <a:spcPts val="4840"/>
              </a:lnSpc>
            </a:pPr>
            <a:endParaRPr lang="en-US" sz="3142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840"/>
              </a:lnSpc>
            </a:pPr>
            <a:endParaRPr lang="en-US" sz="3142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9012429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52511" y="3673217"/>
            <a:ext cx="13982979" cy="2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08"/>
              </a:lnSpc>
            </a:pPr>
            <a:r>
              <a:rPr lang="en-US" sz="9593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III. LOGICAL DESIGN</a:t>
            </a:r>
          </a:p>
          <a:p>
            <a:pPr algn="ctr">
              <a:lnSpc>
                <a:spcPts val="11608"/>
              </a:lnSpc>
            </a:pPr>
            <a:endParaRPr lang="en-US" sz="9593" b="1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III. LOGICAL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915194"/>
            <a:ext cx="15666979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1. Functional Dependencies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83175" y="9624406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BD9E34-09FD-2FC2-E3A3-D2055D8DD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46" y="2563421"/>
            <a:ext cx="16956866" cy="76210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III. LOGICAL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071404"/>
            <a:ext cx="15005127" cy="642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 dirty="0"/>
          </a:p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Pattern Recognition Process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647706" lvl="1" indent="-323853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team identified functional dependencies (FDs) by analyzing how each key uniquely determines other attributes.</a:t>
            </a:r>
          </a:p>
          <a:p>
            <a:pPr marL="647706" lvl="1" indent="-323853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Examples include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BranchID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Branch info,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CustomerID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Customer info, </a:t>
            </a:r>
            <a:r>
              <a:rPr lang="en-US" sz="30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AccountID</a:t>
            </a: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→ Account details, etc.</a:t>
            </a:r>
          </a:p>
          <a:p>
            <a:pPr marL="647706" lvl="1" indent="-323853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Patterns such as 1:1 (manager–branch) and N:M (customer–loan) led to creating the linking tables BRANCH_MANAGEMENT and CUSTOMER_LOAN.</a:t>
            </a:r>
          </a:p>
          <a:p>
            <a:pPr marL="647706" lvl="1" indent="-323853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This ensured the database accurately represents real-world relationships and constraints.</a:t>
            </a:r>
          </a:p>
        </p:txBody>
      </p:sp>
      <p:sp>
        <p:nvSpPr>
          <p:cNvPr id="8" name="Freeform 8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-2233613" y="1734219"/>
            <a:ext cx="14315607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1. Functional Dependencies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III. LOGICAL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41964"/>
            <a:ext cx="15924159" cy="652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2"/>
              </a:lnSpc>
            </a:pPr>
            <a:r>
              <a:rPr lang="en-US" sz="370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Algorithmic Reasoning Steps</a:t>
            </a:r>
          </a:p>
          <a:p>
            <a:pPr marL="800802" lvl="1" indent="-400401" algn="l">
              <a:lnSpc>
                <a:spcPts val="5192"/>
              </a:lnSpc>
              <a:buAutoNum type="arabicPeriod"/>
            </a:pPr>
            <a:r>
              <a:rPr lang="en-US" sz="37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Identify determinants (e.g., EmployeeID, BranchID, CustomerID).</a:t>
            </a:r>
          </a:p>
          <a:p>
            <a:pPr marL="800802" lvl="1" indent="-400401" algn="l">
              <a:lnSpc>
                <a:spcPts val="5192"/>
              </a:lnSpc>
              <a:buAutoNum type="arabicPeriod"/>
            </a:pPr>
            <a:r>
              <a:rPr lang="en-US" sz="37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Find dependent attributes for each determinant.</a:t>
            </a:r>
          </a:p>
          <a:p>
            <a:pPr marL="800802" lvl="1" indent="-400401" algn="l">
              <a:lnSpc>
                <a:spcPts val="5192"/>
              </a:lnSpc>
              <a:buAutoNum type="arabicPeriod"/>
            </a:pPr>
            <a:r>
              <a:rPr lang="en-US" sz="37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Check attribute closures to remove redundancy.</a:t>
            </a:r>
          </a:p>
          <a:p>
            <a:pPr marL="800802" lvl="1" indent="-400401" algn="l">
              <a:lnSpc>
                <a:spcPts val="5192"/>
              </a:lnSpc>
              <a:buAutoNum type="arabicPeriod"/>
            </a:pPr>
            <a:r>
              <a:rPr lang="en-US" sz="37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Determine candidate keys based on full dependencies.</a:t>
            </a:r>
          </a:p>
          <a:p>
            <a:pPr marL="800802" lvl="1" indent="-400401" algn="l">
              <a:lnSpc>
                <a:spcPts val="5192"/>
              </a:lnSpc>
              <a:buAutoNum type="arabicPeriod"/>
            </a:pPr>
            <a:r>
              <a:rPr lang="en-US" sz="37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 primary keys for clarity and simplicity.</a:t>
            </a:r>
          </a:p>
          <a:p>
            <a:pPr algn="l">
              <a:lnSpc>
                <a:spcPts val="5192"/>
              </a:lnSpc>
            </a:pPr>
            <a:r>
              <a:rPr lang="en-US" sz="37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→ This ensured accurate functional dependencies and consistent normalization.</a:t>
            </a:r>
          </a:p>
          <a:p>
            <a:pPr algn="l">
              <a:lnSpc>
                <a:spcPts val="5052"/>
              </a:lnSpc>
              <a:spcBef>
                <a:spcPct val="0"/>
              </a:spcBef>
            </a:pPr>
            <a:endParaRPr lang="en-US" sz="370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-2224088" y="1734219"/>
            <a:ext cx="14315607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1. Functional Dependencies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21813"/>
            <a:ext cx="749438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III. LOGICAL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225" y="2167111"/>
            <a:ext cx="5149142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2. Find the keys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497E52-4CE6-81C3-74B1-BEBAF394E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41" y="2860839"/>
            <a:ext cx="16309076" cy="73162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9012429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52511" y="3673217"/>
            <a:ext cx="13982979" cy="1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08"/>
              </a:lnSpc>
            </a:pPr>
            <a:r>
              <a:rPr lang="en-US" sz="9593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IV. NORMALIZATION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38225" y="1483268"/>
            <a:ext cx="12324266" cy="1456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0"/>
              </a:lnSpc>
            </a:pPr>
            <a:endParaRPr dirty="0"/>
          </a:p>
          <a:p>
            <a:pPr algn="l">
              <a:lnSpc>
                <a:spcPts val="3760"/>
              </a:lnSpc>
            </a:pPr>
            <a:r>
              <a:rPr lang="en-US" sz="40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1. Anomaly Detection and Normalization</a:t>
            </a:r>
          </a:p>
          <a:p>
            <a:pPr algn="l">
              <a:lnSpc>
                <a:spcPts val="3760"/>
              </a:lnSpc>
            </a:pPr>
            <a:endParaRPr lang="en-US" sz="40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921813"/>
            <a:ext cx="811530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IV. NORMALIZATION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</a:t>
            </a:r>
          </a:p>
        </p:txBody>
      </p:sp>
      <p:sp>
        <p:nvSpPr>
          <p:cNvPr id="8" name="Freeform 8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18516" y="3238500"/>
            <a:ext cx="168021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6780" lvl="1" indent="-453390" algn="l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Redundancy: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Employee info may be duplicated across branches.</a:t>
            </a:r>
          </a:p>
          <a:p>
            <a:pPr marL="906780" lvl="1" indent="-453390" algn="l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Update: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Changing a branch’s address requires multiple manual updates, risking inconsistency.</a:t>
            </a:r>
          </a:p>
          <a:p>
            <a:pPr marL="906780" lvl="1" indent="-453390" algn="l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Insertion: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Cannot add a branch without assigning an employee due to foreign key constraints.</a:t>
            </a:r>
          </a:p>
          <a:p>
            <a:pPr marL="906780" lvl="1" indent="-453390" algn="l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Deletion: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Removing a branch may inadvertently delete associated employee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658781"/>
            <a:ext cx="12324266" cy="102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endParaRPr/>
          </a:p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2. Identify Normal Forms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11530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IV. NORMALIZATION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anrope Bold"/>
                <a:ea typeface="Manrope Bold"/>
                <a:cs typeface="Manrope Bold"/>
                <a:sym typeface="Manrope Bold"/>
              </a:rPr>
              <a:t>21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97E0A7-1951-57EB-0596-CFC8476BE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9" y="2860839"/>
            <a:ext cx="16613919" cy="70971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451022"/>
            <a:ext cx="12324266" cy="102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endParaRPr dirty="0"/>
          </a:p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3. Perform Decomposition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21813"/>
            <a:ext cx="811530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IV. NORMALIZATION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22</a:t>
            </a:r>
          </a:p>
        </p:txBody>
      </p:sp>
      <p:sp>
        <p:nvSpPr>
          <p:cNvPr id="8" name="Freeform 8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524000" y="3163267"/>
            <a:ext cx="149352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48" lvl="1" indent="-485774">
              <a:buFont typeface="Arial"/>
              <a:buChar char="•"/>
            </a:pPr>
            <a:r>
              <a:rPr lang="en-US" sz="4000" b="1" dirty="0">
                <a:latin typeface="Montserrat" panose="00000500000000000000" pitchFamily="2" charset="0"/>
              </a:rPr>
              <a:t>N:M Decomposition</a:t>
            </a:r>
            <a:r>
              <a:rPr lang="en-US" sz="4000" dirty="0">
                <a:latin typeface="Montserrat" panose="00000500000000000000" pitchFamily="2" charset="0"/>
              </a:rPr>
              <a:t>: Created CUSTOMER_LOAN to resolve the many-to-many “borrow” relationship.</a:t>
            </a:r>
            <a:br>
              <a:rPr lang="en-US" sz="4000" dirty="0">
                <a:solidFill>
                  <a:srgbClr val="000000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</a:br>
            <a:endParaRPr lang="en-US" sz="4000" dirty="0">
              <a:solidFill>
                <a:srgbClr val="000000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971548" lvl="1" indent="-485774">
              <a:buFont typeface="Arial"/>
              <a:buChar char="•"/>
            </a:pPr>
            <a:r>
              <a:rPr lang="en-US" sz="4000" b="1" dirty="0">
                <a:latin typeface="Montserrat" panose="00000500000000000000" pitchFamily="2" charset="0"/>
              </a:rPr>
              <a:t>1:1 Decomposition</a:t>
            </a:r>
            <a:r>
              <a:rPr lang="en-US" sz="4000" dirty="0">
                <a:latin typeface="Montserrat" panose="00000500000000000000" pitchFamily="2" charset="0"/>
              </a:rPr>
              <a:t>: Created BRANCH_MANAGEMENT to enforce the unique manager–branch link.</a:t>
            </a:r>
            <a:br>
              <a:rPr lang="en-US" sz="4000" dirty="0">
                <a:solidFill>
                  <a:srgbClr val="000000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</a:br>
            <a:endParaRPr lang="en-US" sz="4000" dirty="0">
              <a:solidFill>
                <a:srgbClr val="000000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971548" lvl="1" indent="-485774" algn="just">
              <a:buFont typeface="Arial"/>
              <a:buChar char="•"/>
            </a:pPr>
            <a:r>
              <a:rPr lang="en-US" sz="4000" b="1" dirty="0">
                <a:latin typeface="Montserrat" panose="00000500000000000000" pitchFamily="2" charset="0"/>
              </a:rPr>
              <a:t>Logic Decomposition</a:t>
            </a:r>
            <a:r>
              <a:rPr lang="en-US" sz="4000" dirty="0">
                <a:latin typeface="Montserrat" panose="00000500000000000000" pitchFamily="2" charset="0"/>
              </a:rPr>
              <a:t>: Unified TRANSACTIONS and TRANSFER into one table using </a:t>
            </a:r>
            <a:r>
              <a:rPr lang="en-US" sz="4000" dirty="0" err="1">
                <a:latin typeface="Montserrat" panose="00000500000000000000" pitchFamily="2" charset="0"/>
              </a:rPr>
              <a:t>fromAccountID</a:t>
            </a:r>
            <a:r>
              <a:rPr lang="en-US" sz="4000" dirty="0">
                <a:latin typeface="Montserrat" panose="00000500000000000000" pitchFamily="2" charset="0"/>
              </a:rPr>
              <a:t> and </a:t>
            </a:r>
            <a:r>
              <a:rPr lang="en-US" sz="4000" dirty="0" err="1">
                <a:latin typeface="Montserrat" panose="00000500000000000000" pitchFamily="2" charset="0"/>
              </a:rPr>
              <a:t>toAccountID</a:t>
            </a:r>
            <a:r>
              <a:rPr lang="en-US" sz="4000" dirty="0">
                <a:latin typeface="Montserrat" panose="00000500000000000000" pitchFamily="2" charset="0"/>
              </a:rPr>
              <a:t>.</a:t>
            </a:r>
            <a:endParaRPr lang="en-US" sz="4000" dirty="0">
              <a:solidFill>
                <a:srgbClr val="000000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21813"/>
            <a:ext cx="8115300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IV. NORMALIZATION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51931" y="956392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915194"/>
            <a:ext cx="12324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4. Final Normalized Schema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BF4284-60DB-42B6-E1AB-D9EF3B626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20" y="2653953"/>
            <a:ext cx="16432918" cy="74305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9012429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52576" y="4406642"/>
            <a:ext cx="14182847" cy="1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08"/>
              </a:lnSpc>
            </a:pPr>
            <a:r>
              <a:rPr lang="en-US" sz="9593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24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303771" y="2764281"/>
            <a:ext cx="14431492" cy="7376906"/>
          </a:xfrm>
          <a:custGeom>
            <a:avLst/>
            <a:gdLst/>
            <a:ahLst/>
            <a:cxnLst/>
            <a:rect l="l" t="t" r="r" b="b"/>
            <a:pathLst>
              <a:path w="14431492" h="7376906">
                <a:moveTo>
                  <a:pt x="0" y="0"/>
                </a:moveTo>
                <a:lnTo>
                  <a:pt x="14431492" y="0"/>
                </a:lnTo>
                <a:lnTo>
                  <a:pt x="14431492" y="7376906"/>
                </a:lnTo>
                <a:lnTo>
                  <a:pt x="0" y="7376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19" b="-6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1585" y="2130297"/>
            <a:ext cx="12324266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Design the Physical Model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942178" y="7361941"/>
            <a:ext cx="12403644" cy="2212773"/>
          </a:xfrm>
          <a:custGeom>
            <a:avLst/>
            <a:gdLst/>
            <a:ahLst/>
            <a:cxnLst/>
            <a:rect l="l" t="t" r="r" b="b"/>
            <a:pathLst>
              <a:path w="12403644" h="2212773">
                <a:moveTo>
                  <a:pt x="0" y="0"/>
                </a:moveTo>
                <a:lnTo>
                  <a:pt x="12403644" y="0"/>
                </a:lnTo>
                <a:lnTo>
                  <a:pt x="12403644" y="2212773"/>
                </a:lnTo>
                <a:lnTo>
                  <a:pt x="0" y="2212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1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04711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SQL Queries (Basic)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2893" y="4220596"/>
            <a:ext cx="123544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List transactions from October 12th to October 21st, 2024, sorted by date.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8876" y="5630296"/>
            <a:ext cx="13228926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TRANSACTIONS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TransactionDate &gt;= '2024-10-12' </a:t>
            </a: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 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TransactionDate &lt;= '2024-10-21'</a:t>
            </a: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BY</a:t>
            </a: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TransactionDate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130297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2. Basic retrieval to advanced operations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130297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2. Basic retrieval to advanced operations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736514" y="6300259"/>
            <a:ext cx="6216346" cy="2726873"/>
          </a:xfrm>
          <a:custGeom>
            <a:avLst/>
            <a:gdLst/>
            <a:ahLst/>
            <a:cxnLst/>
            <a:rect l="l" t="t" r="r" b="b"/>
            <a:pathLst>
              <a:path w="6216346" h="2726873">
                <a:moveTo>
                  <a:pt x="0" y="0"/>
                </a:moveTo>
                <a:lnTo>
                  <a:pt x="6216345" y="0"/>
                </a:lnTo>
                <a:lnTo>
                  <a:pt x="6216345" y="2726873"/>
                </a:lnTo>
                <a:lnTo>
                  <a:pt x="0" y="2726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04711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SQL Queries (Intermediate)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893" y="4220596"/>
            <a:ext cx="1302269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Retrieve the customer's FullName, AccountID and the Balance of all accounts they own.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893" y="6832302"/>
            <a:ext cx="8924434" cy="143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</a:t>
            </a: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c.FullName, a.AccountID, a.Balance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</a:t>
            </a: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CUSTOMER c </a:t>
            </a:r>
          </a:p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273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</a:t>
            </a: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ACCOUNT a </a:t>
            </a:r>
            <a:r>
              <a:rPr lang="en-US" sz="273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</a:t>
            </a:r>
            <a:r>
              <a:rPr lang="en-US" sz="273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c.CustomerID = a.CustomerID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130297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2. Basic retrieval to advanced operations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469318" y="6500284"/>
            <a:ext cx="4524607" cy="1704073"/>
          </a:xfrm>
          <a:custGeom>
            <a:avLst/>
            <a:gdLst/>
            <a:ahLst/>
            <a:cxnLst/>
            <a:rect l="l" t="t" r="r" b="b"/>
            <a:pathLst>
              <a:path w="4524607" h="1704073">
                <a:moveTo>
                  <a:pt x="0" y="0"/>
                </a:moveTo>
                <a:lnTo>
                  <a:pt x="4524607" y="0"/>
                </a:lnTo>
                <a:lnTo>
                  <a:pt x="4524607" y="1704073"/>
                </a:lnTo>
                <a:lnTo>
                  <a:pt x="0" y="1704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04711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SQL Queries (Advanced)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893" y="4220596"/>
            <a:ext cx="123544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Find the names of customers who have an 'Active' account that has </a:t>
            </a:r>
            <a:r>
              <a:rPr lang="en-US" sz="3000" b="1" i="1">
                <a:solidFill>
                  <a:srgbClr val="000000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received a deposit</a:t>
            </a: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over 1,000,000.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893" y="5967012"/>
            <a:ext cx="9164190" cy="379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13"/>
              </a:lnSpc>
            </a:pP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FullName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</a:t>
            </a:r>
          </a:p>
          <a:p>
            <a:pPr algn="just">
              <a:lnSpc>
                <a:spcPts val="3813"/>
              </a:lnSpc>
            </a:pP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CustomerID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</a:p>
          <a:p>
            <a:pPr algn="just">
              <a:lnSpc>
                <a:spcPts val="3813"/>
              </a:lnSpc>
              <a:spcBef>
                <a:spcPct val="0"/>
              </a:spcBef>
            </a:pP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CustomerID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</a:t>
            </a:r>
          </a:p>
          <a:p>
            <a:pPr algn="just">
              <a:lnSpc>
                <a:spcPts val="3813"/>
              </a:lnSpc>
              <a:spcBef>
                <a:spcPct val="0"/>
              </a:spcBef>
            </a:pP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Status = 'Active'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AccountID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</a:p>
          <a:p>
            <a:pPr algn="just">
              <a:lnSpc>
                <a:spcPts val="3813"/>
              </a:lnSpc>
              <a:spcBef>
                <a:spcPct val="0"/>
              </a:spcBef>
            </a:pP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toAccountID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TRANSACTIONS</a:t>
            </a:r>
          </a:p>
          <a:p>
            <a:pPr algn="just">
              <a:lnSpc>
                <a:spcPts val="3813"/>
              </a:lnSpc>
              <a:spcBef>
                <a:spcPct val="0"/>
              </a:spcBef>
            </a:pP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</a:t>
            </a:r>
            <a:r>
              <a:rPr lang="en-US" sz="272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Amount &gt; 1000000</a:t>
            </a:r>
          </a:p>
          <a:p>
            <a:pPr algn="just">
              <a:lnSpc>
                <a:spcPts val="3813"/>
              </a:lnSpc>
              <a:spcBef>
                <a:spcPct val="0"/>
              </a:spcBef>
            </a:pP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) </a:t>
            </a:r>
          </a:p>
          <a:p>
            <a:pPr algn="just">
              <a:lnSpc>
                <a:spcPts val="3813"/>
              </a:lnSpc>
              <a:spcBef>
                <a:spcPct val="0"/>
              </a:spcBef>
            </a:pPr>
            <a:r>
              <a:rPr lang="en-US" sz="2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173688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3. Functions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893" y="4217291"/>
            <a:ext cx="123544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Calculates a customer's current age based on their Date of Birth (DOB).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97706" y="5995459"/>
            <a:ext cx="11103503" cy="291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3"/>
              </a:lnSpc>
              <a:spcBef>
                <a:spcPct val="0"/>
              </a:spcBef>
            </a:pPr>
            <a:r>
              <a:rPr lang="en-US" sz="275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 FUNCTION</a:t>
            </a:r>
            <a:r>
              <a:rPr lang="en-US" sz="27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fn_CalculateCustomerAge(@DOB </a:t>
            </a:r>
            <a:r>
              <a:rPr lang="en-US" sz="275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DATE</a:t>
            </a:r>
            <a:r>
              <a:rPr lang="en-US" sz="27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>
              <a:lnSpc>
                <a:spcPts val="3853"/>
              </a:lnSpc>
              <a:spcBef>
                <a:spcPct val="0"/>
              </a:spcBef>
            </a:pPr>
            <a:r>
              <a:rPr lang="en-US" sz="275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RETURNS INT AS</a:t>
            </a:r>
          </a:p>
          <a:p>
            <a:pPr algn="l">
              <a:lnSpc>
                <a:spcPts val="3853"/>
              </a:lnSpc>
              <a:spcBef>
                <a:spcPct val="0"/>
              </a:spcBef>
            </a:pPr>
            <a:r>
              <a:rPr lang="en-US" sz="275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BEGIN</a:t>
            </a:r>
          </a:p>
          <a:p>
            <a:pPr algn="l">
              <a:lnSpc>
                <a:spcPts val="3853"/>
              </a:lnSpc>
              <a:spcBef>
                <a:spcPct val="0"/>
              </a:spcBef>
            </a:pPr>
            <a:r>
              <a:rPr lang="en-US" sz="27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275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RETURN </a:t>
            </a:r>
            <a:r>
              <a:rPr lang="en-US" sz="27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DATEDIFF(YEAR, @DOB, GETDATE());</a:t>
            </a:r>
          </a:p>
          <a:p>
            <a:pPr algn="l">
              <a:lnSpc>
                <a:spcPts val="3853"/>
              </a:lnSpc>
              <a:spcBef>
                <a:spcPct val="0"/>
              </a:spcBef>
            </a:pPr>
            <a:r>
              <a:rPr lang="en-US" sz="275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</a:t>
            </a:r>
          </a:p>
          <a:p>
            <a:pPr algn="l">
              <a:lnSpc>
                <a:spcPts val="3853"/>
              </a:lnSpc>
              <a:spcBef>
                <a:spcPct val="0"/>
              </a:spcBef>
            </a:pPr>
            <a:endParaRPr lang="en-US" sz="2752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04711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fn_CalculateCustomerAge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153908" y="6534912"/>
            <a:ext cx="5673743" cy="2821198"/>
          </a:xfrm>
          <a:custGeom>
            <a:avLst/>
            <a:gdLst/>
            <a:ahLst/>
            <a:cxnLst/>
            <a:rect l="l" t="t" r="r" b="b"/>
            <a:pathLst>
              <a:path w="5673743" h="2821198">
                <a:moveTo>
                  <a:pt x="0" y="0"/>
                </a:moveTo>
                <a:lnTo>
                  <a:pt x="5673743" y="0"/>
                </a:lnTo>
                <a:lnTo>
                  <a:pt x="5673743" y="2821198"/>
                </a:lnTo>
                <a:lnTo>
                  <a:pt x="0" y="2821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893" y="4220596"/>
            <a:ext cx="123544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2893" y="5258821"/>
            <a:ext cx="12913150" cy="91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CustomerID, FullName, dbo.fn_CalculateCustomerAge(DOB)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Age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73688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3. Functions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04711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fn_CalculateCustomerAge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130297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4.  Stored Procedures</a:t>
            </a:r>
          </a:p>
        </p:txBody>
      </p:sp>
      <p:sp>
        <p:nvSpPr>
          <p:cNvPr id="6" name="Freeform 6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12953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sp_AddNewCustomer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49124" y="5169791"/>
            <a:ext cx="13247283" cy="464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 PROCEDURE 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sp_AddNewCustomer</a:t>
            </a:r>
          </a:p>
          <a:p>
            <a:pPr algn="l">
              <a:lnSpc>
                <a:spcPts val="3689"/>
              </a:lnSpc>
            </a:pP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@CustomerID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@FullName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NVARCHAR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(100),</a:t>
            </a:r>
          </a:p>
          <a:p>
            <a:pPr algn="l">
              <a:lnSpc>
                <a:spcPts val="3689"/>
              </a:lnSpc>
            </a:pP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@DOB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DATE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@Address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NVARCHAR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(255),</a:t>
            </a:r>
          </a:p>
          <a:p>
            <a:pPr algn="l">
              <a:lnSpc>
                <a:spcPts val="3689"/>
              </a:lnSpc>
            </a:pP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@Phone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VARCHAR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(20), @Sex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VARCHAR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(10)</a:t>
            </a:r>
          </a:p>
          <a:p>
            <a:pPr algn="l">
              <a:lnSpc>
                <a:spcPts val="3689"/>
              </a:lnSpc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</a:t>
            </a:r>
          </a:p>
          <a:p>
            <a:pPr algn="l">
              <a:lnSpc>
                <a:spcPts val="3689"/>
              </a:lnSpc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BEGIN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INSERT INTO 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 (CustomerID, FullName, DOB, Address, Phone, Sex)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VALUES 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(@CustomerID, @FullName, @DOB, @Address, @Phone, @Sex);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endParaRPr lang="en-US" sz="2635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62893" y="4217291"/>
            <a:ext cx="1359814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0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Inserts a new customer record into the CUSTOMER table.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364890" y="6309192"/>
            <a:ext cx="11251779" cy="3136433"/>
          </a:xfrm>
          <a:custGeom>
            <a:avLst/>
            <a:gdLst/>
            <a:ahLst/>
            <a:cxnLst/>
            <a:rect l="l" t="t" r="r" b="b"/>
            <a:pathLst>
              <a:path w="11251779" h="3136433">
                <a:moveTo>
                  <a:pt x="0" y="0"/>
                </a:moveTo>
                <a:lnTo>
                  <a:pt x="11251779" y="0"/>
                </a:lnTo>
                <a:lnTo>
                  <a:pt x="11251779" y="3136433"/>
                </a:lnTo>
                <a:lnTo>
                  <a:pt x="0" y="3136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893" y="4220596"/>
            <a:ext cx="123544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42894" y="5011171"/>
            <a:ext cx="10295772" cy="91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 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sp_AddNewCustomer 6, N'Ngo Huy Long', '1990-01-01', N'321 ABC Street, Da Lat', '0992645378', 'Male'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30297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4.  Stored Procedures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12953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sp_AddNewCustomer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130297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5. Triggers</a:t>
            </a:r>
          </a:p>
        </p:txBody>
      </p:sp>
      <p:sp>
        <p:nvSpPr>
          <p:cNvPr id="6" name="Freeform 6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12953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trg_PreventCloseAccountWithDebt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426966"/>
            <a:ext cx="14113658" cy="158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Enforces a critical business rule. This trigger prevents changing an account's status to 'Closed' if the Customer who owns that account has any outstanding loans (any loan status other than 'Paid Off').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4495" y="1138478"/>
            <a:ext cx="16724805" cy="8308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 TRIGGER </a:t>
            </a:r>
            <a:r>
              <a:rPr lang="en-US" sz="250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trg_PreventCloseAccountWithDebt</a:t>
            </a:r>
            <a:endParaRPr lang="en-US" sz="2508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512"/>
              </a:lnSpc>
            </a:pP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</a:t>
            </a:r>
          </a:p>
          <a:p>
            <a:pPr algn="l">
              <a:lnSpc>
                <a:spcPts val="3512"/>
              </a:lnSpc>
            </a:pP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AFTER UPDATE</a:t>
            </a:r>
          </a:p>
          <a:p>
            <a:pPr algn="l">
              <a:lnSpc>
                <a:spcPts val="3512"/>
              </a:lnSpc>
            </a:pP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</a:t>
            </a:r>
          </a:p>
          <a:p>
            <a:pPr algn="l">
              <a:lnSpc>
                <a:spcPts val="3512"/>
              </a:lnSpc>
            </a:pP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BEGIN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EXISTS (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inserted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Status = 'Closed')</a:t>
            </a:r>
          </a:p>
          <a:p>
            <a:pPr algn="l">
              <a:lnSpc>
                <a:spcPts val="3512"/>
              </a:lnSpc>
            </a:pP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BEGIN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IF EXISTS (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inserted </a:t>
            </a:r>
            <a:r>
              <a:rPr lang="en-US" sz="250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lang="en-US" sz="2508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CUSTOMER_LOAN cl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</a:t>
            </a:r>
            <a:r>
              <a:rPr lang="en-US" sz="250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i.CustomerID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lang="en-US" sz="250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cl.CustomerID</a:t>
            </a:r>
            <a:endParaRPr lang="en-US" sz="2508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LOAN l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</a:t>
            </a:r>
            <a:r>
              <a:rPr lang="en-US" sz="250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cl.LoanID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lang="en-US" sz="250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l.LoanID</a:t>
            </a:r>
            <a:endParaRPr lang="en-US" sz="2508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0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i.Status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= 'Closed'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08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l.Status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&lt;&gt; 'Paid Off'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)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BEGIN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RAISERROR 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('Cannot close account. Customer still has outstanding loans.', 16, 1);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ROLLBACK TRANSACTION</a:t>
            </a: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</a:t>
            </a:r>
          </a:p>
          <a:p>
            <a:pPr algn="l">
              <a:lnSpc>
                <a:spcPts val="3512"/>
              </a:lnSpc>
            </a:pPr>
            <a:r>
              <a:rPr lang="en-US" sz="2508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</a:t>
            </a:r>
          </a:p>
          <a:p>
            <a:pPr algn="l">
              <a:lnSpc>
                <a:spcPts val="3512"/>
              </a:lnSpc>
              <a:spcBef>
                <a:spcPct val="0"/>
              </a:spcBef>
            </a:pPr>
            <a:r>
              <a:rPr lang="en-US" sz="2508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417109" y="6852580"/>
            <a:ext cx="13453781" cy="2404863"/>
          </a:xfrm>
          <a:custGeom>
            <a:avLst/>
            <a:gdLst/>
            <a:ahLst/>
            <a:cxnLst/>
            <a:rect l="l" t="t" r="r" b="b"/>
            <a:pathLst>
              <a:path w="13453781" h="2404863">
                <a:moveTo>
                  <a:pt x="0" y="0"/>
                </a:moveTo>
                <a:lnTo>
                  <a:pt x="13453782" y="0"/>
                </a:lnTo>
                <a:lnTo>
                  <a:pt x="13453782" y="2404863"/>
                </a:lnTo>
                <a:lnTo>
                  <a:pt x="0" y="2404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893" y="4055366"/>
            <a:ext cx="1378657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Execution: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will fail with error: Cannot close account. Customer still has outstanding loans.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36175" y="5626991"/>
            <a:ext cx="11015650" cy="44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UPDATE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ACCOUNT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Status = 'Closed'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AccountID =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30297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5. Triggers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12953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trg_EnforceLoanLimit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843979" y="6898319"/>
            <a:ext cx="12600042" cy="1811256"/>
          </a:xfrm>
          <a:custGeom>
            <a:avLst/>
            <a:gdLst/>
            <a:ahLst/>
            <a:cxnLst/>
            <a:rect l="l" t="t" r="r" b="b"/>
            <a:pathLst>
              <a:path w="12600042" h="1811256">
                <a:moveTo>
                  <a:pt x="0" y="0"/>
                </a:moveTo>
                <a:lnTo>
                  <a:pt x="12600042" y="0"/>
                </a:lnTo>
                <a:lnTo>
                  <a:pt x="12600042" y="1811256"/>
                </a:lnTo>
                <a:lnTo>
                  <a:pt x="0" y="18112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893" y="3945828"/>
            <a:ext cx="1407822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Execution: </a:t>
            </a: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command succeeds (test case for AccountID = 2, whose owner has a 'Paid Off' loan).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7268" y="5681134"/>
            <a:ext cx="11653463" cy="44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UPDATE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ACCOUNT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Status = 'Closed' </a:t>
            </a:r>
            <a:r>
              <a:rPr lang="en-US" sz="263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6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AccountID = 2;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30297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5. Triggers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12953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trg_EnforceLoanLimit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133602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6. View and Index</a:t>
            </a:r>
          </a:p>
        </p:txBody>
      </p:sp>
      <p:sp>
        <p:nvSpPr>
          <p:cNvPr id="6" name="Freeform 6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12953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520" y="4217291"/>
            <a:ext cx="12820924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Defines a view to simplify complex queries. This view provides a straightforward way to see customer account details without needing to write the JOINs manually.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13926" y="6074666"/>
            <a:ext cx="11781265" cy="4181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 VIEW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vw_CustomerAccountDetails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</a:t>
            </a:r>
          </a:p>
          <a:p>
            <a:pPr algn="l">
              <a:lnSpc>
                <a:spcPts val="3689"/>
              </a:lnSpc>
            </a:pP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</a:t>
            </a:r>
          </a:p>
          <a:p>
            <a:pPr algn="l">
              <a:lnSpc>
                <a:spcPts val="3689"/>
              </a:lnSpc>
            </a:pP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C.CustomerID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C.FullName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C.Phone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</a:p>
          <a:p>
            <a:pPr algn="l">
              <a:lnSpc>
                <a:spcPts val="3689"/>
              </a:lnSpc>
            </a:pP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A.AccountID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A.AccountType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A.Balance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A.Status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AccountStatus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</a:p>
          <a:p>
            <a:pPr algn="l">
              <a:lnSpc>
                <a:spcPts val="3689"/>
              </a:lnSpc>
            </a:pP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B.BranchName</a:t>
            </a:r>
            <a:endParaRPr lang="en-US" sz="263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689"/>
              </a:lnSpc>
            </a:pP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 </a:t>
            </a: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 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</a:p>
          <a:p>
            <a:pPr algn="l">
              <a:lnSpc>
                <a:spcPts val="3689"/>
              </a:lnSpc>
            </a:pP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 </a:t>
            </a: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 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C.CustomerID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A.CustomerID</a:t>
            </a:r>
            <a:endParaRPr lang="en-US" sz="263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689"/>
              </a:lnSpc>
              <a:spcBef>
                <a:spcPct val="0"/>
              </a:spcBef>
            </a:pP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JOIN 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 </a:t>
            </a: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 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 </a:t>
            </a:r>
            <a:r>
              <a:rPr lang="en-US" sz="263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A.BranchID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lang="en-US" sz="2635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B.BranchID</a:t>
            </a:r>
            <a:r>
              <a:rPr lang="en-US" sz="263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</a:p>
          <a:p>
            <a:pPr algn="l">
              <a:lnSpc>
                <a:spcPts val="3689"/>
              </a:lnSpc>
              <a:spcBef>
                <a:spcPct val="0"/>
              </a:spcBef>
            </a:pPr>
            <a:endParaRPr lang="en-US" sz="263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356563" y="6851269"/>
            <a:ext cx="13574874" cy="1578079"/>
          </a:xfrm>
          <a:custGeom>
            <a:avLst/>
            <a:gdLst/>
            <a:ahLst/>
            <a:cxnLst/>
            <a:rect l="l" t="t" r="r" b="b"/>
            <a:pathLst>
              <a:path w="13574874" h="1578079">
                <a:moveTo>
                  <a:pt x="0" y="0"/>
                </a:moveTo>
                <a:lnTo>
                  <a:pt x="13574874" y="0"/>
                </a:lnTo>
                <a:lnTo>
                  <a:pt x="13574874" y="1578079"/>
                </a:lnTo>
                <a:lnTo>
                  <a:pt x="0" y="1578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893" y="4220596"/>
            <a:ext cx="123544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22514" y="5086350"/>
            <a:ext cx="8442973" cy="99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5"/>
              </a:lnSpc>
              <a:spcBef>
                <a:spcPct val="0"/>
              </a:spcBef>
            </a:pPr>
            <a:r>
              <a:rPr lang="en-US" sz="288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</a:t>
            </a:r>
            <a:r>
              <a:rPr lang="en-US" sz="28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-US" sz="288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</a:t>
            </a:r>
            <a:r>
              <a:rPr lang="en-US" sz="28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vw_CustomerAccountDetails 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  <a:r>
              <a:rPr lang="en-US" sz="288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8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FullName </a:t>
            </a:r>
            <a:r>
              <a:rPr lang="en-US" sz="288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LIKE </a:t>
            </a:r>
            <a:r>
              <a:rPr lang="en-US" sz="28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N'Nguyen Van A%'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12953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133602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6. View and Index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129536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Index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7520" y="4217291"/>
            <a:ext cx="12922324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Creates a composite index on the </a:t>
            </a: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CustomerID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lang="en-US" sz="3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BranchID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columns in the </a:t>
            </a:r>
            <a:r>
              <a:rPr lang="en-US" sz="3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ACCOUNT </a:t>
            </a:r>
            <a:r>
              <a:rPr lang="en-US" sz="3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table. This index is designed to improve the performance of queries that frequently filter or join on both the customer and their branch.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80038" y="7103477"/>
            <a:ext cx="8927923" cy="100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289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 INDEX</a:t>
            </a:r>
            <a:r>
              <a:rPr lang="en-US" sz="289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91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idx_Account_CustomerBranch</a:t>
            </a:r>
            <a:endParaRPr lang="en-US" sz="2891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048"/>
              </a:lnSpc>
              <a:spcBef>
                <a:spcPct val="0"/>
              </a:spcBef>
            </a:pPr>
            <a:r>
              <a:rPr lang="en-US" sz="289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</a:t>
            </a:r>
            <a:r>
              <a:rPr lang="en-US" sz="289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ACCOUNT(</a:t>
            </a:r>
            <a:r>
              <a:rPr lang="en-US" sz="2891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CustomerID</a:t>
            </a:r>
            <a:r>
              <a:rPr lang="en-US" sz="289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891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BranchID</a:t>
            </a:r>
            <a:r>
              <a:rPr lang="en-US" sz="289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33602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6. View and Index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49463" y="2473876"/>
            <a:ext cx="2893887" cy="3254883"/>
          </a:xfrm>
          <a:custGeom>
            <a:avLst/>
            <a:gdLst/>
            <a:ahLst/>
            <a:cxnLst/>
            <a:rect l="l" t="t" r="r" b="b"/>
            <a:pathLst>
              <a:path w="2893887" h="3254883">
                <a:moveTo>
                  <a:pt x="0" y="0"/>
                </a:moveTo>
                <a:lnTo>
                  <a:pt x="2893887" y="0"/>
                </a:lnTo>
                <a:lnTo>
                  <a:pt x="2893887" y="3254883"/>
                </a:lnTo>
                <a:lnTo>
                  <a:pt x="0" y="325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683257" y="7212016"/>
            <a:ext cx="5299629" cy="1539002"/>
          </a:xfrm>
          <a:custGeom>
            <a:avLst/>
            <a:gdLst/>
            <a:ahLst/>
            <a:cxnLst/>
            <a:rect l="l" t="t" r="r" b="b"/>
            <a:pathLst>
              <a:path w="5299629" h="1539002">
                <a:moveTo>
                  <a:pt x="0" y="0"/>
                </a:moveTo>
                <a:lnTo>
                  <a:pt x="5299629" y="0"/>
                </a:lnTo>
                <a:lnTo>
                  <a:pt x="5299629" y="1539002"/>
                </a:lnTo>
                <a:lnTo>
                  <a:pt x="0" y="15390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21813"/>
            <a:ext cx="8490817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V. PHYSICAL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893" y="4220596"/>
            <a:ext cx="123544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15008" y="5268346"/>
            <a:ext cx="8636127" cy="1003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7"/>
              </a:lnSpc>
              <a:spcBef>
                <a:spcPct val="0"/>
              </a:spcBef>
            </a:pPr>
            <a:r>
              <a:rPr lang="en-US" sz="290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</a:t>
            </a:r>
            <a:r>
              <a:rPr lang="en-US" sz="29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AccountID, Balance </a:t>
            </a:r>
            <a:r>
              <a:rPr lang="en-US" sz="290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</a:t>
            </a:r>
            <a:r>
              <a:rPr lang="en-US" sz="29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</a:t>
            </a:r>
          </a:p>
          <a:p>
            <a:pPr algn="l">
              <a:lnSpc>
                <a:spcPts val="4067"/>
              </a:lnSpc>
              <a:spcBef>
                <a:spcPct val="0"/>
              </a:spcBef>
            </a:pPr>
            <a:r>
              <a:rPr lang="en-US" sz="290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</a:t>
            </a:r>
            <a:r>
              <a:rPr lang="en-US" sz="29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CustomerID = 1 </a:t>
            </a:r>
            <a:r>
              <a:rPr lang="en-US" sz="290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 </a:t>
            </a:r>
            <a:r>
              <a:rPr lang="en-US" sz="29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BranchID = 1;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131188"/>
            <a:ext cx="1098935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Index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133602"/>
            <a:ext cx="16608743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6. View and Index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00955" y="9012429"/>
            <a:ext cx="2758345" cy="245871"/>
            <a:chOff x="0" y="0"/>
            <a:chExt cx="726478" cy="64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09488" y="4406642"/>
            <a:ext cx="15669025" cy="1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08"/>
              </a:lnSpc>
            </a:pPr>
            <a:r>
              <a:rPr lang="en-US" sz="9593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VI.CONCLUSION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41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54006"/>
            <a:ext cx="15924159" cy="151638"/>
            <a:chOff x="0" y="0"/>
            <a:chExt cx="4194017" cy="39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4017" cy="39938"/>
            </a:xfrm>
            <a:custGeom>
              <a:avLst/>
              <a:gdLst/>
              <a:ahLst/>
              <a:cxnLst/>
              <a:rect l="l" t="t" r="r" b="b"/>
              <a:pathLst>
                <a:path w="4194017" h="39938">
                  <a:moveTo>
                    <a:pt x="0" y="0"/>
                  </a:moveTo>
                  <a:lnTo>
                    <a:pt x="4194017" y="0"/>
                  </a:lnTo>
                  <a:lnTo>
                    <a:pt x="4194017" y="39938"/>
                  </a:lnTo>
                  <a:lnTo>
                    <a:pt x="0" y="39938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4017" cy="78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811906"/>
            <a:ext cx="14979166" cy="399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3" lvl="1" indent="-388622" algn="l">
              <a:lnSpc>
                <a:spcPts val="45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Successfully decomposed complex 1:1 ("manages") and N:M ("borrow") rules into a robust, 8-table schema .</a:t>
            </a:r>
          </a:p>
          <a:p>
            <a:pPr marL="777243" lvl="1" indent="-388622" algn="l">
              <a:lnSpc>
                <a:spcPts val="45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final design is fully normalized to BCNF, ensuring data integrity .</a:t>
            </a:r>
          </a:p>
          <a:p>
            <a:pPr marL="777243" lvl="1" indent="-388622" algn="l">
              <a:lnSpc>
                <a:spcPts val="45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Implemented key business logic using updated Stored Procedures (sp_MakeDeposit) and Triggers (trg_PreventCloseAccountWithDebt).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21813"/>
            <a:ext cx="10393438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VI.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130297"/>
            <a:ext cx="3098664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Summary</a:t>
            </a:r>
          </a:p>
        </p:txBody>
      </p:sp>
      <p:sp>
        <p:nvSpPr>
          <p:cNvPr id="9" name="Freeform 9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8223630"/>
            <a:ext cx="15154604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3" lvl="1" indent="-388622" algn="l">
              <a:lnSpc>
                <a:spcPts val="450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 was used to validate FDs, BCNF, and refine the logic for the unified TRANSACTIONS table and sp_MakeDeposit procedure.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237221"/>
            <a:ext cx="3760922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Utilization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4326" y="0"/>
            <a:ext cx="278554" cy="7277371"/>
            <a:chOff x="0" y="0"/>
            <a:chExt cx="73364" cy="19166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364" cy="1916674"/>
            </a:xfrm>
            <a:custGeom>
              <a:avLst/>
              <a:gdLst/>
              <a:ahLst/>
              <a:cxnLst/>
              <a:rect l="l" t="t" r="r" b="b"/>
              <a:pathLst>
                <a:path w="73364" h="1916674">
                  <a:moveTo>
                    <a:pt x="0" y="0"/>
                  </a:moveTo>
                  <a:lnTo>
                    <a:pt x="73364" y="0"/>
                  </a:lnTo>
                  <a:lnTo>
                    <a:pt x="73364" y="1916674"/>
                  </a:lnTo>
                  <a:lnTo>
                    <a:pt x="0" y="1916674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3364" cy="1954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 rot="-5400000">
            <a:off x="-1647260" y="5520998"/>
            <a:ext cx="587410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DBI202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94627" y="4105507"/>
            <a:ext cx="9288593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223875" y="8772632"/>
            <a:ext cx="177766" cy="266816"/>
          </a:xfrm>
          <a:custGeom>
            <a:avLst/>
            <a:gdLst/>
            <a:ahLst/>
            <a:cxnLst/>
            <a:rect l="l" t="t" r="r" b="b"/>
            <a:pathLst>
              <a:path w="177766" h="266816">
                <a:moveTo>
                  <a:pt x="0" y="0"/>
                </a:moveTo>
                <a:lnTo>
                  <a:pt x="177766" y="0"/>
                </a:lnTo>
                <a:lnTo>
                  <a:pt x="177766" y="266816"/>
                </a:lnTo>
                <a:lnTo>
                  <a:pt x="0" y="266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997446" y="8646325"/>
            <a:ext cx="2261854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sz="2800" b="1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End Slide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495192" y="102515"/>
            <a:ext cx="2056739" cy="1451492"/>
          </a:xfrm>
          <a:custGeom>
            <a:avLst/>
            <a:gdLst/>
            <a:ahLst/>
            <a:cxnLst/>
            <a:rect l="l" t="t" r="r" b="b"/>
            <a:pathLst>
              <a:path w="2056739" h="1451492">
                <a:moveTo>
                  <a:pt x="0" y="0"/>
                </a:moveTo>
                <a:lnTo>
                  <a:pt x="2056739" y="0"/>
                </a:lnTo>
                <a:lnTo>
                  <a:pt x="2056739" y="1451491"/>
                </a:lnTo>
                <a:lnTo>
                  <a:pt x="0" y="1451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80" b="-3161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1885</Words>
  <Application>Microsoft Office PowerPoint</Application>
  <PresentationFormat>Custom</PresentationFormat>
  <Paragraphs>303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Montserrat Ultra-Bold</vt:lpstr>
      <vt:lpstr>Aptos</vt:lpstr>
      <vt:lpstr>Arial</vt:lpstr>
      <vt:lpstr>Montserrat Bold</vt:lpstr>
      <vt:lpstr>Montserrat</vt:lpstr>
      <vt:lpstr>Montserrat Medium</vt:lpstr>
      <vt:lpstr>Manrope Bold</vt:lpstr>
      <vt:lpstr>Montserrat Medium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CS105 - Computer Graphics</dc:title>
  <cp:lastModifiedBy>DatIT sama</cp:lastModifiedBy>
  <cp:revision>13</cp:revision>
  <dcterms:created xsi:type="dcterms:W3CDTF">2006-08-16T00:00:00Z</dcterms:created>
  <dcterms:modified xsi:type="dcterms:W3CDTF">2025-11-11T15:09:12Z</dcterms:modified>
  <dc:identifier>DAG3vsQjmF8</dc:identifier>
</cp:coreProperties>
</file>